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Hola — somos Dental Mirage.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odontólogos independientes en Córdoba coordinan turnos por WhatsApp o agenda de papel. No tienen una página propia donde el paciente pida turno solo, y las herramientas genéricas de gestión no están pensadas para una clínica.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Dental Mirage combina la gestión completa de la clínica —turnero, agenda, pacientes— con una página pública propia donde los pacientes piden turno directamente, más un buscador público que conecta pacientes con clínicas.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paciente entra a la página propia del profesional, pide turno, y el profesional gestiona todo desde un panel simple. El sistema garantiza, a nivel de base de datos, que nunca se solapen dos turnos.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Cualquier profesional puede sumarse y tener su clínica online en minutos, sin fricción técnica — solo o en equipo. Empezamos en Córdoba, con un producto que ya está armado para escalar a cualquier ciudad de Argentina.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el producto funciona de punta a punta: turnero, agenda, pacientes, página pública y buscador, con onboarding completo. Está en producción, sobre una arquitectura sólida. [Acá sumá el dato real de tracción — clínicas piloto, usuarios, feedback — antes de presentar frente a inversores.]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Buscamos una ronda semilla para acelerar la llegada a las clínicas de Córdoba y expandirnos a nuevas ciudades. Gracias — hablemos. [Completá acá el monto concreto de la ronda y el uso de fondos antes de presentar.]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53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1463040"/>
          </a:xfrm>
          <a:prstGeom prst="rect">
            <a:avLst/>
          </a:prstGeom>
          <a:noFill/>
        </p:spPr>
        <p:txBody>
          <a:bodyPr wrap="square" anchor="t">
            <a:spAutoFit/>
          </a:bodyPr>
          <a:lstStyle/>
          <a:p>
            <a:pPr algn="l">
              <a:lnSpc>
                <a:spcPct val="100000"/>
              </a:lnSpc>
            </a:pPr>
            <a:r>
              <a:rPr sz="6600" b="1" i="0">
                <a:solidFill>
                  <a:srgbClr val="FFFDF9"/>
                </a:solidFill>
                <a:latin typeface="Calibri"/>
              </a:rPr>
              <a:t>Dental Mirage</a:t>
            </a:r>
          </a:p>
        </p:txBody>
      </p:sp>
      <p:sp>
        <p:nvSpPr>
          <p:cNvPr id="4" name="TextBox 3"/>
          <p:cNvSpPr txBox="1"/>
          <p:nvPr/>
        </p:nvSpPr>
        <p:spPr>
          <a:xfrm>
            <a:off x="868680" y="3429000"/>
            <a:ext cx="10058400" cy="731520"/>
          </a:xfrm>
          <a:prstGeom prst="rect">
            <a:avLst/>
          </a:prstGeom>
          <a:noFill/>
        </p:spPr>
        <p:txBody>
          <a:bodyPr wrap="square" anchor="t">
            <a:spAutoFit/>
          </a:bodyPr>
          <a:lstStyle/>
          <a:p>
            <a:pPr algn="l">
              <a:lnSpc>
                <a:spcPct val="100000"/>
              </a:lnSpc>
            </a:pPr>
            <a:r>
              <a:rPr sz="2200" b="0" i="0">
                <a:solidFill>
                  <a:srgbClr val="E7DFD1"/>
                </a:solidFill>
                <a:latin typeface="Calibri"/>
              </a:rPr>
              <a:t>El consultorio online que le faltaba al odontólogo independiente.</a:t>
            </a:r>
          </a:p>
        </p:txBody>
      </p:sp>
      <p:sp>
        <p:nvSpPr>
          <p:cNvPr id="5" name="TextBox 4"/>
          <p:cNvSpPr txBox="1"/>
          <p:nvPr/>
        </p:nvSpPr>
        <p:spPr>
          <a:xfrm>
            <a:off x="868680" y="6035040"/>
            <a:ext cx="9144000" cy="457200"/>
          </a:xfrm>
          <a:prstGeom prst="rect">
            <a:avLst/>
          </a:prstGeom>
          <a:noFill/>
        </p:spPr>
        <p:txBody>
          <a:bodyPr wrap="square" anchor="t">
            <a:spAutoFit/>
          </a:bodyPr>
          <a:lstStyle/>
          <a:p>
            <a:pPr algn="l">
              <a:lnSpc>
                <a:spcPct val="100000"/>
              </a:lnSpc>
            </a:pPr>
            <a:r>
              <a:rPr sz="1300" b="1" i="0">
                <a:solidFill>
                  <a:srgbClr val="C97F5A"/>
                </a:solidFill>
                <a:latin typeface="Consolas"/>
              </a:rPr>
              <a:t>PITCH — INVERSORES ÁNGELES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457200"/>
          </a:xfrm>
          <a:prstGeom prst="rect">
            <a:avLst/>
          </a:prstGeom>
          <a:noFill/>
        </p:spPr>
        <p:txBody>
          <a:bodyPr wrap="square" anchor="t">
            <a:spAutoFit/>
          </a:bodyPr>
          <a:lstStyle/>
          <a:p>
            <a:pPr algn="l">
              <a:lnSpc>
                <a:spcPct val="100000"/>
              </a:lnSpc>
            </a:pPr>
            <a:r>
              <a:rPr sz="1400" b="1" i="0">
                <a:solidFill>
                  <a:srgbClr val="8A4B2E"/>
                </a:solidFill>
                <a:latin typeface="Consolas"/>
              </a:rPr>
              <a:t>EL PROBLEMA</a:t>
            </a:r>
          </a:p>
        </p:txBody>
      </p:sp>
      <p:sp>
        <p:nvSpPr>
          <p:cNvPr id="4" name="TextBox 3"/>
          <p:cNvSpPr txBox="1"/>
          <p:nvPr/>
        </p:nvSpPr>
        <p:spPr>
          <a:xfrm>
            <a:off x="822960" y="1051560"/>
            <a:ext cx="9601200" cy="914400"/>
          </a:xfrm>
          <a:prstGeom prst="rect">
            <a:avLst/>
          </a:prstGeom>
          <a:noFill/>
        </p:spPr>
        <p:txBody>
          <a:bodyPr wrap="square" anchor="t">
            <a:spAutoFit/>
          </a:bodyPr>
          <a:lstStyle/>
          <a:p>
            <a:pPr algn="l">
              <a:lnSpc>
                <a:spcPct val="105000"/>
              </a:lnSpc>
            </a:pPr>
            <a:r>
              <a:rPr sz="3400" b="1" i="0">
                <a:solidFill>
                  <a:srgbClr val="35312B"/>
                </a:solidFill>
                <a:latin typeface="Calibri"/>
              </a:rPr>
              <a:t>Cada clínica dental corre con sus propias</a:t>
            </a:r>
          </a:p>
          <a:p>
            <a:pPr algn="l">
              <a:lnSpc>
                <a:spcPct val="105000"/>
              </a:lnSpc>
            </a:pPr>
            <a:r>
              <a:rPr sz="3400" b="1" i="0">
                <a:solidFill>
                  <a:srgbClr val="35312B"/>
                </a:solidFill>
                <a:latin typeface="Calibri"/>
              </a:rPr>
              <a:t>cuerdas y sin red.</a:t>
            </a:r>
          </a:p>
        </p:txBody>
      </p:sp>
      <p:sp>
        <p:nvSpPr>
          <p:cNvPr id="5" name="TextBox 4"/>
          <p:cNvSpPr txBox="1"/>
          <p:nvPr/>
        </p:nvSpPr>
        <p:spPr>
          <a:xfrm>
            <a:off x="868680" y="2743200"/>
            <a:ext cx="9601200" cy="3200400"/>
          </a:xfrm>
          <a:prstGeom prst="rect">
            <a:avLst/>
          </a:prstGeom>
          <a:noFill/>
        </p:spPr>
        <p:txBody>
          <a:bodyPr wrap="square">
            <a:spAutoFit/>
          </a:bodyPr>
          <a:lstStyle/>
          <a:p>
            <a:pPr>
              <a:spcAft>
                <a:spcPts val="1000"/>
              </a:spcAft>
            </a:pPr>
            <a:r>
              <a:rPr sz="2000" b="0">
                <a:solidFill>
                  <a:srgbClr val="35312B"/>
                </a:solidFill>
                <a:latin typeface="Calibri"/>
              </a:rPr>
              <a:t>—  Turnos que se coordinan por WhatsApp, uno por uno</a:t>
            </a:r>
          </a:p>
          <a:p>
            <a:pPr>
              <a:spcAft>
                <a:spcPts val="1000"/>
              </a:spcAft>
            </a:pPr>
            <a:r>
              <a:rPr sz="2000" b="0">
                <a:solidFill>
                  <a:srgbClr val="35312B"/>
                </a:solidFill>
                <a:latin typeface="Calibri"/>
              </a:rPr>
              <a:t>—  Agendas de papel o planillas sueltas que no evitan superposiciones</a:t>
            </a:r>
          </a:p>
          <a:p>
            <a:pPr>
              <a:spcAft>
                <a:spcPts val="1000"/>
              </a:spcAft>
            </a:pPr>
            <a:r>
              <a:rPr sz="2000" b="0">
                <a:solidFill>
                  <a:srgbClr val="35312B"/>
                </a:solidFill>
                <a:latin typeface="Calibri"/>
              </a:rPr>
              <a:t>—  Sin una página propia donde el paciente pida turno solo</a:t>
            </a:r>
          </a:p>
          <a:p>
            <a:pPr>
              <a:spcAft>
                <a:spcPts val="1000"/>
              </a:spcAft>
            </a:pPr>
            <a:r>
              <a:rPr sz="2000" b="0">
                <a:solidFill>
                  <a:srgbClr val="35312B"/>
                </a:solidFill>
                <a:latin typeface="Calibri"/>
              </a:rPr>
              <a:t>—  Las herramientas genéricas de gestión no entienden cómo trabaja una clínica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59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457200"/>
          </a:xfrm>
          <a:prstGeom prst="rect">
            <a:avLst/>
          </a:prstGeom>
          <a:noFill/>
        </p:spPr>
        <p:txBody>
          <a:bodyPr wrap="square" anchor="t">
            <a:spAutoFit/>
          </a:bodyPr>
          <a:lstStyle/>
          <a:p>
            <a:pPr algn="l">
              <a:lnSpc>
                <a:spcPct val="100000"/>
              </a:lnSpc>
            </a:pPr>
            <a:r>
              <a:rPr sz="1400" b="1" i="0">
                <a:solidFill>
                  <a:srgbClr val="F5E3D6"/>
                </a:solidFill>
                <a:latin typeface="Consolas"/>
              </a:rPr>
              <a:t>LA SOLUCIÓN</a:t>
            </a:r>
          </a:p>
        </p:txBody>
      </p:sp>
      <p:sp>
        <p:nvSpPr>
          <p:cNvPr id="4" name="TextBox 3"/>
          <p:cNvSpPr txBox="1"/>
          <p:nvPr/>
        </p:nvSpPr>
        <p:spPr>
          <a:xfrm>
            <a:off x="822960" y="1051560"/>
            <a:ext cx="10058400" cy="1005840"/>
          </a:xfrm>
          <a:prstGeom prst="rect">
            <a:avLst/>
          </a:prstGeom>
          <a:noFill/>
        </p:spPr>
        <p:txBody>
          <a:bodyPr wrap="square" anchor="t">
            <a:spAutoFit/>
          </a:bodyPr>
          <a:lstStyle/>
          <a:p>
            <a:pPr algn="l">
              <a:lnSpc>
                <a:spcPct val="105000"/>
              </a:lnSpc>
            </a:pPr>
            <a:r>
              <a:rPr sz="3200" b="1" i="0">
                <a:solidFill>
                  <a:srgbClr val="FFFDF9"/>
                </a:solidFill>
                <a:latin typeface="Calibri"/>
              </a:rPr>
              <a:t>Una plataforma, todo lo que</a:t>
            </a:r>
          </a:p>
          <a:p>
            <a:pPr algn="l">
              <a:lnSpc>
                <a:spcPct val="105000"/>
              </a:lnSpc>
            </a:pPr>
            <a:r>
              <a:rPr sz="3200" b="1" i="0">
                <a:solidFill>
                  <a:srgbClr val="FFFDF9"/>
                </a:solidFill>
                <a:latin typeface="Calibri"/>
              </a:rPr>
              <a:t>la clínica necesita para operar online.</a:t>
            </a:r>
          </a:p>
        </p:txBody>
      </p:sp>
      <p:sp>
        <p:nvSpPr>
          <p:cNvPr id="5" name="TextBox 4"/>
          <p:cNvSpPr txBox="1"/>
          <p:nvPr/>
        </p:nvSpPr>
        <p:spPr>
          <a:xfrm>
            <a:off x="868680" y="2834640"/>
            <a:ext cx="9875520" cy="3200400"/>
          </a:xfrm>
          <a:prstGeom prst="rect">
            <a:avLst/>
          </a:prstGeom>
          <a:noFill/>
        </p:spPr>
        <p:txBody>
          <a:bodyPr wrap="square">
            <a:spAutoFit/>
          </a:bodyPr>
          <a:lstStyle/>
          <a:p>
            <a:pPr>
              <a:spcAft>
                <a:spcPts val="1000"/>
              </a:spcAft>
            </a:pPr>
            <a:r>
              <a:rPr sz="2000" b="0">
                <a:solidFill>
                  <a:srgbClr val="FFFDF9"/>
                </a:solidFill>
                <a:latin typeface="Calibri"/>
              </a:rPr>
              <a:t>—  Turnero sin solapamientos, garantizado a nivel de base de datos</a:t>
            </a:r>
          </a:p>
          <a:p>
            <a:pPr>
              <a:spcAft>
                <a:spcPts val="1000"/>
              </a:spcAft>
            </a:pPr>
            <a:r>
              <a:rPr sz="2000" b="0">
                <a:solidFill>
                  <a:srgbClr val="FFFDF9"/>
                </a:solidFill>
                <a:latin typeface="Calibri"/>
              </a:rPr>
              <a:t>—  Agenda y pacientes en un panel pensado para el día a día de la clínica</a:t>
            </a:r>
          </a:p>
          <a:p>
            <a:pPr>
              <a:spcAft>
                <a:spcPts val="1000"/>
              </a:spcAft>
            </a:pPr>
            <a:r>
              <a:rPr sz="2000" b="0">
                <a:solidFill>
                  <a:srgbClr val="FFFDF9"/>
                </a:solidFill>
                <a:latin typeface="Calibri"/>
              </a:rPr>
              <a:t>—  Página pública propia, lista para usar, donde el paciente pide turno</a:t>
            </a:r>
          </a:p>
          <a:p>
            <a:pPr>
              <a:spcAft>
                <a:spcPts val="1000"/>
              </a:spcAft>
            </a:pPr>
            <a:r>
              <a:rPr sz="2000" b="0">
                <a:solidFill>
                  <a:srgbClr val="FFFDF9"/>
                </a:solidFill>
                <a:latin typeface="Calibri"/>
              </a:rPr>
              <a:t>—  Buscador público que conecta pacientes con clínicas de la zona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457200"/>
          </a:xfrm>
          <a:prstGeom prst="rect">
            <a:avLst/>
          </a:prstGeom>
          <a:noFill/>
        </p:spPr>
        <p:txBody>
          <a:bodyPr wrap="square" anchor="t">
            <a:spAutoFit/>
          </a:bodyPr>
          <a:lstStyle/>
          <a:p>
            <a:pPr algn="l">
              <a:lnSpc>
                <a:spcPct val="100000"/>
              </a:lnSpc>
            </a:pPr>
            <a:r>
              <a:rPr sz="1400" b="1" i="0">
                <a:solidFill>
                  <a:srgbClr val="8A4B2E"/>
                </a:solidFill>
                <a:latin typeface="Consolas"/>
              </a:rPr>
              <a:t>CÓMO FUNCIONA</a:t>
            </a:r>
          </a:p>
        </p:txBody>
      </p:sp>
      <p:sp>
        <p:nvSpPr>
          <p:cNvPr id="4" name="TextBox 3"/>
          <p:cNvSpPr txBox="1"/>
          <p:nvPr/>
        </p:nvSpPr>
        <p:spPr>
          <a:xfrm>
            <a:off x="822960" y="1051560"/>
            <a:ext cx="10058400" cy="822960"/>
          </a:xfrm>
          <a:prstGeom prst="rect">
            <a:avLst/>
          </a:prstGeom>
          <a:noFill/>
        </p:spPr>
        <p:txBody>
          <a:bodyPr wrap="square" anchor="t">
            <a:spAutoFit/>
          </a:bodyPr>
          <a:lstStyle/>
          <a:p>
            <a:pPr algn="l">
              <a:lnSpc>
                <a:spcPct val="105000"/>
              </a:lnSpc>
            </a:pPr>
            <a:r>
              <a:rPr sz="3200" b="1" i="0">
                <a:solidFill>
                  <a:srgbClr val="35312B"/>
                </a:solidFill>
                <a:latin typeface="Calibri"/>
              </a:rPr>
              <a:t>De la búsqueda al turno confirmado,</a:t>
            </a:r>
          </a:p>
          <a:p>
            <a:pPr algn="l">
              <a:lnSpc>
                <a:spcPct val="105000"/>
              </a:lnSpc>
            </a:pPr>
            <a:r>
              <a:rPr sz="3200" b="1" i="0">
                <a:solidFill>
                  <a:srgbClr val="35312B"/>
                </a:solidFill>
                <a:latin typeface="Calibri"/>
              </a:rPr>
              <a:t>sin intermediarios.</a:t>
            </a:r>
          </a:p>
        </p:txBody>
      </p:sp>
      <p:sp>
        <p:nvSpPr>
          <p:cNvPr id="5" name="Rounded Rectangle 4"/>
          <p:cNvSpPr/>
          <p:nvPr/>
        </p:nvSpPr>
        <p:spPr>
          <a:xfrm>
            <a:off x="822960" y="2834640"/>
            <a:ext cx="3246120" cy="2834640"/>
          </a:xfrm>
          <a:prstGeom prst="roundRect">
            <a:avLst>
              <a:gd name="adj" fmla="val 6000"/>
            </a:avLst>
          </a:prstGeom>
          <a:solidFill>
            <a:srgbClr val="FFFDF9"/>
          </a:solidFill>
          <a:ln w="9525">
            <a:solidFill>
              <a:srgbClr val="E7DF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063240"/>
            <a:ext cx="1371600" cy="548640"/>
          </a:xfrm>
          <a:prstGeom prst="rect">
            <a:avLst/>
          </a:prstGeom>
          <a:noFill/>
        </p:spPr>
        <p:txBody>
          <a:bodyPr wrap="square" anchor="t">
            <a:spAutoFit/>
          </a:bodyPr>
          <a:lstStyle/>
          <a:p>
            <a:pPr algn="l">
              <a:lnSpc>
                <a:spcPct val="100000"/>
              </a:lnSpc>
            </a:pPr>
            <a:r>
              <a:rPr sz="2800" b="1" i="0">
                <a:solidFill>
                  <a:srgbClr val="C97F5A"/>
                </a:solidFill>
                <a:latin typeface="Consolas"/>
              </a:rPr>
              <a:t>01</a:t>
            </a:r>
          </a:p>
        </p:txBody>
      </p:sp>
      <p:sp>
        <p:nvSpPr>
          <p:cNvPr id="7" name="TextBox 6"/>
          <p:cNvSpPr txBox="1"/>
          <p:nvPr/>
        </p:nvSpPr>
        <p:spPr>
          <a:xfrm>
            <a:off x="1097280" y="3703320"/>
            <a:ext cx="2697480" cy="548640"/>
          </a:xfrm>
          <a:prstGeom prst="rect">
            <a:avLst/>
          </a:prstGeom>
          <a:noFill/>
        </p:spPr>
        <p:txBody>
          <a:bodyPr wrap="square" anchor="t">
            <a:spAutoFit/>
          </a:bodyPr>
          <a:lstStyle/>
          <a:p>
            <a:pPr algn="l">
              <a:lnSpc>
                <a:spcPct val="100000"/>
              </a:lnSpc>
            </a:pPr>
            <a:r>
              <a:rPr sz="2000" b="1" i="0">
                <a:solidFill>
                  <a:srgbClr val="35312B"/>
                </a:solidFill>
                <a:latin typeface="Calibri"/>
              </a:rPr>
              <a:t>El paciente</a:t>
            </a:r>
          </a:p>
        </p:txBody>
      </p:sp>
      <p:sp>
        <p:nvSpPr>
          <p:cNvPr id="8" name="TextBox 7"/>
          <p:cNvSpPr txBox="1"/>
          <p:nvPr/>
        </p:nvSpPr>
        <p:spPr>
          <a:xfrm>
            <a:off x="1097280" y="4251960"/>
            <a:ext cx="2697480" cy="1280160"/>
          </a:xfrm>
          <a:prstGeom prst="rect">
            <a:avLst/>
          </a:prstGeom>
          <a:noFill/>
        </p:spPr>
        <p:txBody>
          <a:bodyPr wrap="square" anchor="t">
            <a:spAutoFit/>
          </a:bodyPr>
          <a:lstStyle/>
          <a:p>
            <a:pPr algn="l">
              <a:lnSpc>
                <a:spcPct val="115000"/>
              </a:lnSpc>
            </a:pPr>
            <a:r>
              <a:rPr sz="1500" b="0" i="0">
                <a:solidFill>
                  <a:srgbClr val="35312B"/>
                </a:solidFill>
                <a:latin typeface="Calibri"/>
              </a:rPr>
              <a:t>entra a la página propia de la clínica o la encuentra en el buscador público.</a:t>
            </a:r>
          </a:p>
        </p:txBody>
      </p:sp>
      <p:sp>
        <p:nvSpPr>
          <p:cNvPr id="9" name="Rounded Rectangle 8"/>
          <p:cNvSpPr/>
          <p:nvPr/>
        </p:nvSpPr>
        <p:spPr>
          <a:xfrm>
            <a:off x="4297680" y="2834640"/>
            <a:ext cx="3246120" cy="2834640"/>
          </a:xfrm>
          <a:prstGeom prst="roundRect">
            <a:avLst>
              <a:gd name="adj" fmla="val 6000"/>
            </a:avLst>
          </a:prstGeom>
          <a:solidFill>
            <a:srgbClr val="FFFDF9"/>
          </a:solidFill>
          <a:ln w="9525">
            <a:solidFill>
              <a:srgbClr val="E7DF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3063240"/>
            <a:ext cx="1371600" cy="548640"/>
          </a:xfrm>
          <a:prstGeom prst="rect">
            <a:avLst/>
          </a:prstGeom>
          <a:noFill/>
        </p:spPr>
        <p:txBody>
          <a:bodyPr wrap="square" anchor="t">
            <a:spAutoFit/>
          </a:bodyPr>
          <a:lstStyle/>
          <a:p>
            <a:pPr algn="l">
              <a:lnSpc>
                <a:spcPct val="100000"/>
              </a:lnSpc>
            </a:pPr>
            <a:r>
              <a:rPr sz="2800" b="1" i="0">
                <a:solidFill>
                  <a:srgbClr val="C97F5A"/>
                </a:solidFill>
                <a:latin typeface="Consolas"/>
              </a:rPr>
              <a:t>02</a:t>
            </a:r>
          </a:p>
        </p:txBody>
      </p:sp>
      <p:sp>
        <p:nvSpPr>
          <p:cNvPr id="11" name="TextBox 10"/>
          <p:cNvSpPr txBox="1"/>
          <p:nvPr/>
        </p:nvSpPr>
        <p:spPr>
          <a:xfrm>
            <a:off x="4572000" y="3703320"/>
            <a:ext cx="2697480" cy="548640"/>
          </a:xfrm>
          <a:prstGeom prst="rect">
            <a:avLst/>
          </a:prstGeom>
          <a:noFill/>
        </p:spPr>
        <p:txBody>
          <a:bodyPr wrap="square" anchor="t">
            <a:spAutoFit/>
          </a:bodyPr>
          <a:lstStyle/>
          <a:p>
            <a:pPr algn="l">
              <a:lnSpc>
                <a:spcPct val="100000"/>
              </a:lnSpc>
            </a:pPr>
            <a:r>
              <a:rPr sz="2000" b="1" i="0">
                <a:solidFill>
                  <a:srgbClr val="35312B"/>
                </a:solidFill>
                <a:latin typeface="Calibri"/>
              </a:rPr>
              <a:t>Pide turno</a:t>
            </a:r>
          </a:p>
        </p:txBody>
      </p:sp>
      <p:sp>
        <p:nvSpPr>
          <p:cNvPr id="12" name="TextBox 11"/>
          <p:cNvSpPr txBox="1"/>
          <p:nvPr/>
        </p:nvSpPr>
        <p:spPr>
          <a:xfrm>
            <a:off x="4572000" y="4251960"/>
            <a:ext cx="2697480" cy="1280160"/>
          </a:xfrm>
          <a:prstGeom prst="rect">
            <a:avLst/>
          </a:prstGeom>
          <a:noFill/>
        </p:spPr>
        <p:txBody>
          <a:bodyPr wrap="square" anchor="t">
            <a:spAutoFit/>
          </a:bodyPr>
          <a:lstStyle/>
          <a:p>
            <a:pPr algn="l">
              <a:lnSpc>
                <a:spcPct val="115000"/>
              </a:lnSpc>
            </a:pPr>
            <a:r>
              <a:rPr sz="1500" b="0" i="0">
                <a:solidFill>
                  <a:srgbClr val="35312B"/>
                </a:solidFill>
                <a:latin typeface="Calibri"/>
              </a:rPr>
              <a:t>elige día y horario disponible, sin llamar ni escribir por WhatsApp.</a:t>
            </a:r>
          </a:p>
        </p:txBody>
      </p:sp>
      <p:sp>
        <p:nvSpPr>
          <p:cNvPr id="13" name="Rounded Rectangle 12"/>
          <p:cNvSpPr/>
          <p:nvPr/>
        </p:nvSpPr>
        <p:spPr>
          <a:xfrm>
            <a:off x="7772400" y="2834640"/>
            <a:ext cx="3246120" cy="2834640"/>
          </a:xfrm>
          <a:prstGeom prst="roundRect">
            <a:avLst>
              <a:gd name="adj" fmla="val 6000"/>
            </a:avLst>
          </a:prstGeom>
          <a:solidFill>
            <a:srgbClr val="FFFDF9"/>
          </a:solidFill>
          <a:ln w="9525">
            <a:solidFill>
              <a:srgbClr val="E7DF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3063240"/>
            <a:ext cx="1371600" cy="548640"/>
          </a:xfrm>
          <a:prstGeom prst="rect">
            <a:avLst/>
          </a:prstGeom>
          <a:noFill/>
        </p:spPr>
        <p:txBody>
          <a:bodyPr wrap="square" anchor="t">
            <a:spAutoFit/>
          </a:bodyPr>
          <a:lstStyle/>
          <a:p>
            <a:pPr algn="l">
              <a:lnSpc>
                <a:spcPct val="100000"/>
              </a:lnSpc>
            </a:pPr>
            <a:r>
              <a:rPr sz="2800" b="1" i="0">
                <a:solidFill>
                  <a:srgbClr val="C97F5A"/>
                </a:solidFill>
                <a:latin typeface="Consolas"/>
              </a:rPr>
              <a:t>03</a:t>
            </a:r>
          </a:p>
        </p:txBody>
      </p:sp>
      <p:sp>
        <p:nvSpPr>
          <p:cNvPr id="15" name="TextBox 14"/>
          <p:cNvSpPr txBox="1"/>
          <p:nvPr/>
        </p:nvSpPr>
        <p:spPr>
          <a:xfrm>
            <a:off x="8046720" y="3703320"/>
            <a:ext cx="2697480" cy="548640"/>
          </a:xfrm>
          <a:prstGeom prst="rect">
            <a:avLst/>
          </a:prstGeom>
          <a:noFill/>
        </p:spPr>
        <p:txBody>
          <a:bodyPr wrap="square" anchor="t">
            <a:spAutoFit/>
          </a:bodyPr>
          <a:lstStyle/>
          <a:p>
            <a:pPr algn="l">
              <a:lnSpc>
                <a:spcPct val="100000"/>
              </a:lnSpc>
            </a:pPr>
            <a:r>
              <a:rPr sz="2000" b="1" i="0">
                <a:solidFill>
                  <a:srgbClr val="35312B"/>
                </a:solidFill>
                <a:latin typeface="Calibri"/>
              </a:rPr>
              <a:t>El profesional</a:t>
            </a:r>
          </a:p>
        </p:txBody>
      </p:sp>
      <p:sp>
        <p:nvSpPr>
          <p:cNvPr id="16" name="TextBox 15"/>
          <p:cNvSpPr txBox="1"/>
          <p:nvPr/>
        </p:nvSpPr>
        <p:spPr>
          <a:xfrm>
            <a:off x="8046720" y="4251960"/>
            <a:ext cx="2697480" cy="1280160"/>
          </a:xfrm>
          <a:prstGeom prst="rect">
            <a:avLst/>
          </a:prstGeom>
          <a:noFill/>
        </p:spPr>
        <p:txBody>
          <a:bodyPr wrap="square" anchor="t">
            <a:spAutoFit/>
          </a:bodyPr>
          <a:lstStyle/>
          <a:p>
            <a:pPr algn="l">
              <a:lnSpc>
                <a:spcPct val="115000"/>
              </a:lnSpc>
            </a:pPr>
            <a:r>
              <a:rPr sz="1500" b="0" i="0">
                <a:solidFill>
                  <a:srgbClr val="35312B"/>
                </a:solidFill>
                <a:latin typeface="Calibri"/>
              </a:rPr>
              <a:t>lo gestiona desde su panel — calendario, pacientes y agenda en un solo lugar.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4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457200"/>
          </a:xfrm>
          <a:prstGeom prst="rect">
            <a:avLst/>
          </a:prstGeom>
          <a:noFill/>
        </p:spPr>
        <p:txBody>
          <a:bodyPr wrap="square" anchor="t">
            <a:spAutoFit/>
          </a:bodyPr>
          <a:lstStyle/>
          <a:p>
            <a:pPr algn="l">
              <a:lnSpc>
                <a:spcPct val="100000"/>
              </a:lnSpc>
            </a:pPr>
            <a:r>
              <a:rPr sz="1400" b="1" i="0">
                <a:solidFill>
                  <a:srgbClr val="F5E3D6"/>
                </a:solidFill>
                <a:latin typeface="Consolas"/>
              </a:rPr>
              <a:t>POR QUÉ AHORA</a:t>
            </a:r>
          </a:p>
        </p:txBody>
      </p:sp>
      <p:sp>
        <p:nvSpPr>
          <p:cNvPr id="4" name="TextBox 3"/>
          <p:cNvSpPr txBox="1"/>
          <p:nvPr/>
        </p:nvSpPr>
        <p:spPr>
          <a:xfrm>
            <a:off x="822960" y="1051560"/>
            <a:ext cx="10058400" cy="914400"/>
          </a:xfrm>
          <a:prstGeom prst="rect">
            <a:avLst/>
          </a:prstGeom>
          <a:noFill/>
        </p:spPr>
        <p:txBody>
          <a:bodyPr wrap="square" anchor="t">
            <a:spAutoFit/>
          </a:bodyPr>
          <a:lstStyle/>
          <a:p>
            <a:pPr algn="l">
              <a:lnSpc>
                <a:spcPct val="105000"/>
              </a:lnSpc>
            </a:pPr>
            <a:r>
              <a:rPr sz="3200" b="1" i="0">
                <a:solidFill>
                  <a:srgbClr val="FFFDF9"/>
                </a:solidFill>
                <a:latin typeface="Calibri"/>
              </a:rPr>
              <a:t>Cada profesional, con o sin equipo,</a:t>
            </a:r>
          </a:p>
          <a:p>
            <a:pPr algn="l">
              <a:lnSpc>
                <a:spcPct val="105000"/>
              </a:lnSpc>
            </a:pPr>
            <a:r>
              <a:rPr sz="3200" b="1" i="0">
                <a:solidFill>
                  <a:srgbClr val="FFFDF9"/>
                </a:solidFill>
                <a:latin typeface="Calibri"/>
              </a:rPr>
              <a:t>online en minutos.</a:t>
            </a:r>
          </a:p>
        </p:txBody>
      </p:sp>
      <p:sp>
        <p:nvSpPr>
          <p:cNvPr id="5" name="TextBox 4"/>
          <p:cNvSpPr txBox="1"/>
          <p:nvPr/>
        </p:nvSpPr>
        <p:spPr>
          <a:xfrm>
            <a:off x="868680" y="2834640"/>
            <a:ext cx="9875520" cy="3200400"/>
          </a:xfrm>
          <a:prstGeom prst="rect">
            <a:avLst/>
          </a:prstGeom>
          <a:noFill/>
        </p:spPr>
        <p:txBody>
          <a:bodyPr wrap="square">
            <a:spAutoFit/>
          </a:bodyPr>
          <a:lstStyle/>
          <a:p>
            <a:pPr>
              <a:spcAft>
                <a:spcPts val="1000"/>
              </a:spcAft>
            </a:pPr>
            <a:r>
              <a:rPr sz="2000" b="0">
                <a:solidFill>
                  <a:srgbClr val="FFFDF9"/>
                </a:solidFill>
                <a:latin typeface="Calibri"/>
              </a:rPr>
              <a:t>—  Alta de cuenta individual u organización con varios profesionales</a:t>
            </a:r>
          </a:p>
          <a:p>
            <a:pPr>
              <a:spcAft>
                <a:spcPts val="1000"/>
              </a:spcAft>
            </a:pPr>
            <a:r>
              <a:rPr sz="2000" b="0">
                <a:solidFill>
                  <a:srgbClr val="FFFDF9"/>
                </a:solidFill>
                <a:latin typeface="Calibri"/>
              </a:rPr>
              <a:t>—  Sin desarrollo a medida ni fricción técnica para sumarse</a:t>
            </a:r>
          </a:p>
          <a:p>
            <a:pPr>
              <a:spcAft>
                <a:spcPts val="1000"/>
              </a:spcAft>
            </a:pPr>
            <a:r>
              <a:rPr sz="2000" b="0">
                <a:solidFill>
                  <a:srgbClr val="FFFDF9"/>
                </a:solidFill>
                <a:latin typeface="Calibri"/>
              </a:rPr>
              <a:t>—  Nace en Córdoba, con una arquitectura pensada para escalar a cualquier ciudad del país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457200"/>
          </a:xfrm>
          <a:prstGeom prst="rect">
            <a:avLst/>
          </a:prstGeom>
          <a:noFill/>
        </p:spPr>
        <p:txBody>
          <a:bodyPr wrap="square" anchor="t">
            <a:spAutoFit/>
          </a:bodyPr>
          <a:lstStyle/>
          <a:p>
            <a:pPr algn="l">
              <a:lnSpc>
                <a:spcPct val="100000"/>
              </a:lnSpc>
            </a:pPr>
            <a:r>
              <a:rPr sz="1400" b="1" i="0">
                <a:solidFill>
                  <a:srgbClr val="8A4B2E"/>
                </a:solidFill>
                <a:latin typeface="Consolas"/>
              </a:rPr>
              <a:t>DÓNDE ESTAMOS</a:t>
            </a:r>
          </a:p>
        </p:txBody>
      </p:sp>
      <p:sp>
        <p:nvSpPr>
          <p:cNvPr id="4" name="TextBox 3"/>
          <p:cNvSpPr txBox="1"/>
          <p:nvPr/>
        </p:nvSpPr>
        <p:spPr>
          <a:xfrm>
            <a:off x="822960" y="1051560"/>
            <a:ext cx="10058400" cy="822960"/>
          </a:xfrm>
          <a:prstGeom prst="rect">
            <a:avLst/>
          </a:prstGeom>
          <a:noFill/>
        </p:spPr>
        <p:txBody>
          <a:bodyPr wrap="square" anchor="t">
            <a:spAutoFit/>
          </a:bodyPr>
          <a:lstStyle/>
          <a:p>
            <a:pPr algn="l">
              <a:lnSpc>
                <a:spcPct val="105000"/>
              </a:lnSpc>
            </a:pPr>
            <a:r>
              <a:rPr sz="3200" b="1" i="0">
                <a:solidFill>
                  <a:srgbClr val="35312B"/>
                </a:solidFill>
                <a:latin typeface="Calibri"/>
              </a:rPr>
              <a:t>El producto ya funciona,</a:t>
            </a:r>
          </a:p>
          <a:p>
            <a:pPr algn="l">
              <a:lnSpc>
                <a:spcPct val="105000"/>
              </a:lnSpc>
            </a:pPr>
            <a:r>
              <a:rPr sz="3200" b="1" i="0">
                <a:solidFill>
                  <a:srgbClr val="35312B"/>
                </a:solidFill>
                <a:latin typeface="Calibri"/>
              </a:rPr>
              <a:t>de punta a punta.</a:t>
            </a:r>
          </a:p>
        </p:txBody>
      </p:sp>
      <p:sp>
        <p:nvSpPr>
          <p:cNvPr id="5" name="TextBox 4"/>
          <p:cNvSpPr txBox="1"/>
          <p:nvPr/>
        </p:nvSpPr>
        <p:spPr>
          <a:xfrm>
            <a:off x="868680" y="2606040"/>
            <a:ext cx="9875520" cy="1828800"/>
          </a:xfrm>
          <a:prstGeom prst="rect">
            <a:avLst/>
          </a:prstGeom>
          <a:noFill/>
        </p:spPr>
        <p:txBody>
          <a:bodyPr wrap="square">
            <a:spAutoFit/>
          </a:bodyPr>
          <a:lstStyle/>
          <a:p>
            <a:pPr>
              <a:spcAft>
                <a:spcPts val="1000"/>
              </a:spcAft>
            </a:pPr>
            <a:r>
              <a:rPr sz="1900" b="0">
                <a:solidFill>
                  <a:srgbClr val="35312B"/>
                </a:solidFill>
                <a:latin typeface="Calibri"/>
              </a:rPr>
              <a:t>—  Turnero, agenda, pacientes, página pública y buscador — funcionando en producción</a:t>
            </a:r>
          </a:p>
          <a:p>
            <a:pPr>
              <a:spcAft>
                <a:spcPts val="1000"/>
              </a:spcAft>
            </a:pPr>
            <a:r>
              <a:rPr sz="1900" b="0">
                <a:solidFill>
                  <a:srgbClr val="35312B"/>
                </a:solidFill>
                <a:latin typeface="Calibri"/>
              </a:rPr>
              <a:t>—  Alta de cuenta y onboarding profesional ya implementados</a:t>
            </a:r>
          </a:p>
          <a:p>
            <a:pPr>
              <a:spcAft>
                <a:spcPts val="1000"/>
              </a:spcAft>
            </a:pPr>
            <a:r>
              <a:rPr sz="1900" b="0">
                <a:solidFill>
                  <a:srgbClr val="35312B"/>
                </a:solidFill>
                <a:latin typeface="Calibri"/>
              </a:rPr>
              <a:t>—  Arquitectura productiva (Go + Next.js + PostgreSQL), con tests y CI</a:t>
            </a:r>
          </a:p>
        </p:txBody>
      </p:sp>
      <p:sp>
        <p:nvSpPr>
          <p:cNvPr id="6" name="Rounded Rectangle 5"/>
          <p:cNvSpPr/>
          <p:nvPr/>
        </p:nvSpPr>
        <p:spPr>
          <a:xfrm>
            <a:off x="868680" y="4617720"/>
            <a:ext cx="9875520" cy="1005840"/>
          </a:xfrm>
          <a:prstGeom prst="roundRect">
            <a:avLst>
              <a:gd name="adj" fmla="val 12000"/>
            </a:avLst>
          </a:prstGeom>
          <a:solidFill>
            <a:srgbClr val="E4EBE2"/>
          </a:solidFill>
          <a:ln w="12700">
            <a:solidFill>
              <a:srgbClr val="6E8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800600"/>
            <a:ext cx="9418320" cy="685800"/>
          </a:xfrm>
          <a:prstGeom prst="rect">
            <a:avLst/>
          </a:prstGeom>
          <a:noFill/>
        </p:spPr>
        <p:txBody>
          <a:bodyPr wrap="square" anchor="t">
            <a:spAutoFit/>
          </a:bodyPr>
          <a:lstStyle/>
          <a:p>
            <a:pPr algn="l">
              <a:lnSpc>
                <a:spcPct val="100000"/>
              </a:lnSpc>
            </a:pPr>
            <a:r>
              <a:rPr sz="1500" b="0" i="1">
                <a:solidFill>
                  <a:srgbClr val="3F5943"/>
                </a:solidFill>
                <a:latin typeface="Calibri"/>
              </a:rPr>
              <a:t>[ COMPLETAR: clínicas piloto / usuarios activos / feedback real — sumalo acá antes de presentar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53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457200"/>
          </a:xfrm>
          <a:prstGeom prst="rect">
            <a:avLst/>
          </a:prstGeom>
          <a:noFill/>
        </p:spPr>
        <p:txBody>
          <a:bodyPr wrap="square" anchor="t">
            <a:spAutoFit/>
          </a:bodyPr>
          <a:lstStyle/>
          <a:p>
            <a:pPr algn="l">
              <a:lnSpc>
                <a:spcPct val="100000"/>
              </a:lnSpc>
            </a:pPr>
            <a:r>
              <a:rPr sz="1400" b="1" i="0">
                <a:solidFill>
                  <a:srgbClr val="C97F5A"/>
                </a:solidFill>
                <a:latin typeface="Consolas"/>
              </a:rPr>
              <a:t>LO QUE BUSCAMOS</a:t>
            </a:r>
          </a:p>
        </p:txBody>
      </p:sp>
      <p:sp>
        <p:nvSpPr>
          <p:cNvPr id="4" name="TextBox 3"/>
          <p:cNvSpPr txBox="1"/>
          <p:nvPr/>
        </p:nvSpPr>
        <p:spPr>
          <a:xfrm>
            <a:off x="822960" y="1280160"/>
            <a:ext cx="10332720" cy="1463040"/>
          </a:xfrm>
          <a:prstGeom prst="rect">
            <a:avLst/>
          </a:prstGeom>
          <a:noFill/>
        </p:spPr>
        <p:txBody>
          <a:bodyPr wrap="square" anchor="t">
            <a:spAutoFit/>
          </a:bodyPr>
          <a:lstStyle/>
          <a:p>
            <a:pPr algn="l">
              <a:lnSpc>
                <a:spcPct val="105000"/>
              </a:lnSpc>
            </a:pPr>
            <a:r>
              <a:rPr sz="3400" b="1" i="0">
                <a:solidFill>
                  <a:srgbClr val="FFFDF9"/>
                </a:solidFill>
                <a:latin typeface="Calibri"/>
              </a:rPr>
              <a:t>Una ronda semilla para llegar</a:t>
            </a:r>
          </a:p>
          <a:p>
            <a:pPr algn="l">
              <a:lnSpc>
                <a:spcPct val="105000"/>
              </a:lnSpc>
            </a:pPr>
            <a:r>
              <a:rPr sz="3400" b="1" i="0">
                <a:solidFill>
                  <a:srgbClr val="FFFDF9"/>
                </a:solidFill>
                <a:latin typeface="Calibri"/>
              </a:rPr>
              <a:t>a más clínicas, más rápido.</a:t>
            </a:r>
          </a:p>
        </p:txBody>
      </p:sp>
      <p:sp>
        <p:nvSpPr>
          <p:cNvPr id="5" name="TextBox 4"/>
          <p:cNvSpPr txBox="1"/>
          <p:nvPr/>
        </p:nvSpPr>
        <p:spPr>
          <a:xfrm>
            <a:off x="868680" y="3017520"/>
            <a:ext cx="9875520" cy="1645920"/>
          </a:xfrm>
          <a:prstGeom prst="rect">
            <a:avLst/>
          </a:prstGeom>
          <a:noFill/>
        </p:spPr>
        <p:txBody>
          <a:bodyPr wrap="square">
            <a:spAutoFit/>
          </a:bodyPr>
          <a:lstStyle/>
          <a:p>
            <a:pPr>
              <a:spcAft>
                <a:spcPts val="1000"/>
              </a:spcAft>
            </a:pPr>
            <a:r>
              <a:rPr sz="2000" b="0">
                <a:solidFill>
                  <a:srgbClr val="E7DFD1"/>
                </a:solidFill>
                <a:latin typeface="Calibri"/>
              </a:rPr>
              <a:t>—  Adquisición de las primeras clínicas en Córdoba</a:t>
            </a:r>
          </a:p>
          <a:p>
            <a:pPr>
              <a:spcAft>
                <a:spcPts val="1000"/>
              </a:spcAft>
            </a:pPr>
            <a:r>
              <a:rPr sz="2000" b="0">
                <a:solidFill>
                  <a:srgbClr val="E7DFD1"/>
                </a:solidFill>
                <a:latin typeface="Calibri"/>
              </a:rPr>
              <a:t>—  Expansión a nuevas ciudades</a:t>
            </a:r>
          </a:p>
          <a:p>
            <a:pPr>
              <a:spcAft>
                <a:spcPts val="1000"/>
              </a:spcAft>
            </a:pPr>
            <a:r>
              <a:rPr sz="2000" b="0">
                <a:solidFill>
                  <a:srgbClr val="E7DFD1"/>
                </a:solidFill>
                <a:latin typeface="Calibri"/>
              </a:rPr>
              <a:t>—  Equipo para acelerar el roadmap comercial</a:t>
            </a:r>
          </a:p>
        </p:txBody>
      </p:sp>
      <p:sp>
        <p:nvSpPr>
          <p:cNvPr id="6" name="Rounded Rectangle 5"/>
          <p:cNvSpPr/>
          <p:nvPr/>
        </p:nvSpPr>
        <p:spPr>
          <a:xfrm>
            <a:off x="868680" y="4937760"/>
            <a:ext cx="9875520" cy="1005840"/>
          </a:xfrm>
          <a:prstGeom prst="roundRect">
            <a:avLst>
              <a:gd name="adj" fmla="val 12000"/>
            </a:avLst>
          </a:prstGeom>
          <a:solidFill>
            <a:srgbClr val="4A443B"/>
          </a:solidFill>
          <a:ln w="12700">
            <a:solidFill>
              <a:srgbClr val="C97F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5120640"/>
            <a:ext cx="9418320" cy="685800"/>
          </a:xfrm>
          <a:prstGeom prst="rect">
            <a:avLst/>
          </a:prstGeom>
          <a:noFill/>
        </p:spPr>
        <p:txBody>
          <a:bodyPr wrap="square" anchor="t">
            <a:spAutoFit/>
          </a:bodyPr>
          <a:lstStyle/>
          <a:p>
            <a:pPr algn="l">
              <a:lnSpc>
                <a:spcPct val="100000"/>
              </a:lnSpc>
            </a:pPr>
            <a:r>
              <a:rPr sz="1500" b="0" i="1">
                <a:solidFill>
                  <a:srgbClr val="F5E3D6"/>
                </a:solidFill>
                <a:latin typeface="Calibri"/>
              </a:rPr>
              <a:t>[ COMPLETAR: monto de la ronda, uso de fondos y datos de contacto — sumalo acá antes de presentar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